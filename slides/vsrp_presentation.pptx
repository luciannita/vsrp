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Vessel Schedule Recovery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6E8F7"/>
                </a:solidFill>
                <a:latin typeface="Calibri"/>
              </a:rPr>
              <a:t>Extensions, Benchmarking &amp; Regulatory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219456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7A1E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Baseline
Completion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206240"/>
            <a:ext cx="219456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251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7A1E"/>
                </a:solidFill>
                <a:latin typeface="Calibr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663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CO₂ &amp;
Regulatory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219456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251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7A1E"/>
                </a:solidFill>
                <a:latin typeface="Calibri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Solver
Benchmarking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39" y="4206240"/>
            <a:ext cx="219456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39" y="4251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7A1E"/>
                </a:solidFill>
                <a:latin typeface="Calibri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4663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CFA
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Problem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80744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Maritime disruption context, VSRP definition, recovery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28216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739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465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Mathematical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MIP formulation, variables, constraints, objective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13432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31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51176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Solver-agnostic architecture, swap groups, transshipment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98648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94436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Sensitivity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3639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Alpha trade-off frontier, delay sweep, green recovery tension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83864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5295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021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Emissions &amp; Regulation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21608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EU ETS, IMO CII, FuelEU Maritime, stochastic carbon price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80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114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873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Solver Benchmarking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06824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Xpress vs HiGHS vs CBC — solution quality, runtime, stability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54296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7000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725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CFA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Additive, decay, SPSA update rules — tail risk and service reliability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39512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5285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Penalty Sensitivity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77256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Swap and speed-up penalty thresholds across random seeds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824728"/>
            <a:ext cx="411480" cy="43891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58704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430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Conclusions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06247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Key findings,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Maritime transportation and schedule disruptions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5120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Maritime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80% of global trade volume moves by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75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Liner shipping: fixed routes, public schedules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70–80% of voyages experience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Just-in-time supply chains demand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Common Disruption 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Adverse weather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Port congestion and labour strikes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Mechanical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35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•  Geopolitical disturbances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143000"/>
            <a:ext cx="6035040" cy="5120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1234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Trans-Pacific Case Study 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664208"/>
            <a:ext cx="640080" cy="329184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7007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KWY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7007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Kwangyang  ← Origin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9339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084832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21214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214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Busan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14016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505456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5420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5420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Qingdao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83464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926080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29626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9626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Nagoya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25526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346704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3383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383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Yokohama (out)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67588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767328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38039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803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Long Beach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09651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187952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42245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224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Oakland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517136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608576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0" y="46451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DHB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6451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Dutch Harbor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93776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029200"/>
            <a:ext cx="640080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35040" y="50657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0657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Yokohama (ret)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35838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5449824"/>
            <a:ext cx="640080" cy="329184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54864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KWY2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4864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Kwangyang  ← Sink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Recovery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Four strategy types, applied individually or in combination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2423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Speed Adjustment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SLOW 15kn  /  NORMAL 20kn  /  FAST 25kn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Fuel cost ∝ v²·d  (cubic model)
Fast speed recovers time at high fuel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669280" cy="2423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669280" cy="384048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Expedited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18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6E"/>
                </a:solidFill>
                <a:latin typeface="Calibri"/>
              </a:rPr>
              <a:t>STANDARD 12h  →  EXPEDITED 8h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Saves 4h per port call
Additional resource cost: $200 vs $100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669280" cy="2423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669280" cy="38404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9475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Port Omission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A1E"/>
                </a:solidFill>
                <a:latin typeface="Calibri"/>
              </a:rPr>
              <a:t>Skip one or more consecutive planned 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177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Saves travel + handling time
Penalty: $1,000 per omitted 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669280" cy="2423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749039"/>
            <a:ext cx="56692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5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Port Swapping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2452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Reorder two port visits (non-adjacent, max distance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6177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Three-leg swap group: Leg A → Leg B → Leg C
Ordering variables enforce sequence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Mixed-Integer Program on a time-space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9144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11480" y="1508760"/>
                <a:ext cx="6400800" cy="360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⁡ (</m:t>
                      </m:r>
                      <m: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GB" sz="1600" b="1" i="1" dirty="0" smtClean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) · </m:t>
                      </m:r>
                      <m:sSub>
                        <m:sSubPr>
                          <m:ctrlPr>
                            <a:rPr lang="en-GB" sz="1600" b="1" i="1" dirty="0" err="1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dirty="0" err="1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GB" sz="1600" b="1" i="1" dirty="0" smtClean="0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  <m:t>𝒐𝒑</m:t>
                          </m:r>
                        </m:sub>
                      </m:sSub>
                      <m:r>
                        <a:rPr lang="en-GB" sz="1600" b="1" i="1" dirty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GB" sz="1600" b="1" i="1" dirty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GB" sz="1600" b="1" i="1" dirty="0">
                          <a:solidFill>
                            <a:srgbClr val="1A3A5C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GB" sz="1600" b="1" i="1" dirty="0" err="1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dirty="0" err="1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GB" sz="1600" b="1" i="1" dirty="0" smtClean="0">
                              <a:solidFill>
                                <a:srgbClr val="1A3A5C"/>
                              </a:solidFill>
                              <a:latin typeface="Cambria Math" panose="02040503050406030204" pitchFamily="18" charset="0"/>
                            </a:rPr>
                            <m:t>𝒔𝒗𝒄</m:t>
                          </m:r>
                        </m:sub>
                      </m:sSub>
                    </m:oMath>
                  </m:oMathPara>
                </a14:m>
                <a:endParaRPr sz="1600" b="1" i="0" dirty="0">
                  <a:solidFill>
                    <a:srgbClr val="1A3A5C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508760"/>
                <a:ext cx="6400800" cy="360612"/>
              </a:xfrm>
              <a:prstGeom prst="rect">
                <a:avLst/>
              </a:prstGeom>
              <a:blipFill>
                <a:blip r:embed="rId2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858000" y="1572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α ∈ [0,1]  controls the service / cost trade-off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5577840" cy="3931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Decision 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33472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11480" y="2670048"/>
                <a:ext cx="868680" cy="240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sz="9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670048"/>
                <a:ext cx="868680" cy="240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371600" y="26883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edge e sailed with duration mode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08960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11480" y="3145536"/>
                <a:ext cx="868680" cy="243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sz="9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145536"/>
                <a:ext cx="868680" cy="243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371600" y="31638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port p visited with duration mode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84448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11480" y="3621024"/>
                <a:ext cx="868680" cy="243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sz="9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621024"/>
                <a:ext cx="868680" cy="243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1371600" y="36393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strategy s applied at port 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59936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11480" y="4096512"/>
                <a:ext cx="8686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096512"/>
                <a:ext cx="868680" cy="230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371600" y="41148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container c arrives 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35424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11480" y="4572000"/>
                <a:ext cx="8686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72000"/>
                <a:ext cx="868680" cy="2308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371600" y="459028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container c misses connection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10912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411480" y="5047488"/>
                <a:ext cx="868680" cy="243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GB" sz="9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900" b="1" i="1" dirty="0" err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047488"/>
                <a:ext cx="868680" cy="243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1371600" y="506577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port i visited before port j  (swap ordering)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86400"/>
            <a:ext cx="868680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411480" y="5522976"/>
                <a:ext cx="868680" cy="243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9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sz="900" b="1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522976"/>
                <a:ext cx="868680" cy="243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1371600" y="554126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 if swap group g is 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194560"/>
            <a:ext cx="5852160" cy="3931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226771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Key Constraint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63347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Flow conservation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83464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Origin: Σ x = 1  |  Sink: Σ x = 1  |  Interior: flow in = flow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10896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Port-call consistency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6172200" y="3310128"/>
                <a:ext cx="5577840" cy="241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m:rPr>
                        <m:sty m:val="p"/>
                      </m:rPr>
                      <a:rPr lang="el-GR" sz="900" b="0" i="0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b>
                    </m:sSub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for edges arriving at p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310128"/>
                <a:ext cx="5577840" cy="241476"/>
              </a:xfrm>
              <a:prstGeom prst="rect">
                <a:avLst/>
              </a:prstGeom>
              <a:blipFill>
                <a:blip r:embed="rId10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6172200" y="35844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Swap group integrity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6172200" y="3785616"/>
                <a:ext cx="5577840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All 3 legs of group g active</a:t>
                </a:r>
                <a14:m>
                  <m:oMath xmlns:m="http://schemas.openxmlformats.org/officeDocument/2006/math">
                    <m:r>
                      <a:rPr lang="en-GB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⟺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 </a:t>
                </a:r>
                <a:r>
                  <a:rPr lang="en-GB" sz="900" b="0" i="0" dirty="0" err="1">
                    <a:solidFill>
                      <a:srgbClr val="333333"/>
                    </a:solidFill>
                    <a:latin typeface="Calibri"/>
                  </a:rPr>
                  <a:t>swap_active_g</a:t>
                </a:r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 = 1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785616"/>
                <a:ext cx="5577840" cy="237744"/>
              </a:xfrm>
              <a:prstGeom prst="rect">
                <a:avLst/>
              </a:prstGeom>
              <a:blipFill>
                <a:blip r:embed="rId11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6172200" y="4059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Ordering (antisymmetry)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6172200" y="4261104"/>
                <a:ext cx="5577840" cy="241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sz="900" b="0" i="1" dirty="0" err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for all interior pairs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261104"/>
                <a:ext cx="5577840" cy="241926"/>
              </a:xfrm>
              <a:prstGeom prst="rect">
                <a:avLst/>
              </a:prstGeom>
              <a:blipFill>
                <a:blip r:embed="rId1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6172200" y="453542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A7A6E"/>
                </a:solidFill>
                <a:latin typeface="Calibri"/>
              </a:rPr>
              <a:t>Ordering (transitivity)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172200" y="4736592"/>
                <a:ext cx="5577840" cy="241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for all triples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736592"/>
                <a:ext cx="5577840" cy="241926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6172200" y="501091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Delay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172200" y="5212080"/>
                <a:ext cx="5577840" cy="242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l-GR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l-GR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900" b="0" i="0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𝑡𝑖𝑚𝑒</m:t>
                            </m:r>
                            <m: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𝑒𝑑𝑔𝑒𝑠</m:t>
                            </m:r>
                          </m:e>
                        </m:d>
                      </m:sub>
                    </m:sSub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l-GR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 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212080"/>
                <a:ext cx="5577840" cy="2420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172200" y="54864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Misconnection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6172200" y="5687568"/>
                <a:ext cx="5577840" cy="240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≥ </m:t>
                    </m:r>
                    <m:sSub>
                      <m:sSubPr>
                        <m:ctrlP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b>
                    </m:sSub>
                  </m:oMath>
                </a14:m>
                <a:r>
                  <a:rPr lang="ar-AE" sz="900" b="0" i="0" dirty="0">
                    <a:solidFill>
                      <a:srgbClr val="333333"/>
                    </a:solidFill>
                    <a:latin typeface="Calibri"/>
                  </a:rPr>
                  <a:t>  </a:t>
                </a:r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for non-connecting transshipment edges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687568"/>
                <a:ext cx="5577840" cy="240772"/>
              </a:xfrm>
              <a:prstGeom prst="rect">
                <a:avLst/>
              </a:prstGeom>
              <a:blipFill>
                <a:blip r:embed="rId1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Solver-agnostic, modular, fully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005840" cy="1143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Experiments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188720"/>
            <a:ext cx="1042416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54480" y="138988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7632" y="1490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benchmark.py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4397" y="138988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7549" y="1490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sensitivity.py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4314" y="1399033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7466" y="149961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cfa.py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14231" y="138988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7383" y="1490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penalty_sensitivity.py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4148" y="138988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7301" y="1490472"/>
            <a:ext cx="16501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stochastic_ets.py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14600"/>
            <a:ext cx="1005840" cy="11430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8986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2514600"/>
            <a:ext cx="1042416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554480" y="271576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27632" y="2816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xpress_solver.py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4397" y="2715768"/>
            <a:ext cx="1453761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47549" y="2816352"/>
            <a:ext cx="13714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highs_solver.py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4314" y="271576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7466" y="2816352"/>
            <a:ext cx="136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cbc_solver.py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14231" y="271576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7383" y="2816352"/>
            <a:ext cx="1362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6E"/>
                </a:solidFill>
                <a:latin typeface="Calibri"/>
              </a:rPr>
              <a:t>mip_builder.py  (PuLP)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1005840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42245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3840480"/>
            <a:ext cx="1042416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554480" y="404164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27632" y="4142232"/>
            <a:ext cx="136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entities.py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4397" y="4041648"/>
            <a:ext cx="1453761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47549" y="4142232"/>
            <a:ext cx="13714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network.py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94314" y="404164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67466" y="4142232"/>
            <a:ext cx="136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costs.py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14231" y="4041648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87383" y="4142232"/>
            <a:ext cx="136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emissions.py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34148" y="4041648"/>
            <a:ext cx="1453761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7300" y="4142232"/>
            <a:ext cx="13714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simulation.py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57425" y="4041648"/>
            <a:ext cx="1540987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30577" y="4142232"/>
            <a:ext cx="14537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A1E"/>
                </a:solidFill>
                <a:latin typeface="Calibri"/>
              </a:rPr>
              <a:t>validation.py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166359"/>
            <a:ext cx="1005840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4320" y="5550407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17320" y="5166359"/>
            <a:ext cx="10424160" cy="1143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554480" y="5367527"/>
            <a:ext cx="1444625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627632" y="5468111"/>
            <a:ext cx="1362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base_instance.py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4397" y="5367527"/>
            <a:ext cx="1453761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47549" y="5468111"/>
            <a:ext cx="13714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instance_generator.py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Port Swap: Three-Leg Group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Brouer et al. (2013) extended to non-adjacent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Planned route: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43000"/>
            <a:ext cx="155448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YOK1(4)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43000"/>
            <a:ext cx="1554480" cy="3657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LGB(5)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43000"/>
            <a:ext cx="155448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OAK(6)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143000"/>
            <a:ext cx="1554480" cy="3657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DHB(7)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143000"/>
            <a:ext cx="155448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YOK2(8)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20240"/>
            <a:ext cx="3749039" cy="2560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1920240"/>
            <a:ext cx="3749039" cy="3474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Leg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59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YOK1(4) → DHB(7)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743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Vessel goes directly to DHB, skipping LGB
Skipped: OAK(6)
swap_group_id = 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920240"/>
            <a:ext cx="3749039" cy="2560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59" y="1920240"/>
            <a:ext cx="3749039" cy="347472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399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Leg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6E"/>
                </a:solidFill>
                <a:latin typeface="Calibri"/>
              </a:rPr>
              <a:t>DHB(7) → LGB(5)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2743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Vessel backtracks to LGB after serving DHB
Identifies swap pair: from &gt; to
swap_group_id = 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920240"/>
            <a:ext cx="3749039" cy="2560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1920240"/>
            <a:ext cx="3749039" cy="34747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Leg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359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  <a:latin typeface="Calibri"/>
              </a:rPr>
              <a:t>LGB(5) → YOK2(8)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7432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Vessel resumes forward from LGB
succ(DHB) = YOK2
swap_group_id =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Recovered route: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617720"/>
            <a:ext cx="18288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YOK1(4)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617720"/>
            <a:ext cx="1828800" cy="3657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DHB(7)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617720"/>
            <a:ext cx="1828800" cy="3657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LGB(5)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59" y="4617720"/>
            <a:ext cx="18288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9535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YOK2(8)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166360"/>
            <a:ext cx="11612880" cy="137160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Enforcement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411480" y="5532120"/>
                <a:ext cx="11338560" cy="240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l-GR" sz="900" b="0" i="0" dirty="0">
                    <a:solidFill>
                      <a:srgbClr val="333333"/>
                    </a:solidFill>
                    <a:latin typeface="Calibri"/>
                  </a:rPr>
                  <a:t>•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9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900" b="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err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𝑠𝑤𝑎𝑝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𝑎𝑐𝑡𝑖𝑣</m:t>
                    </m:r>
                    <m:sSub>
                      <m:sSubPr>
                        <m:ctrlP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ar-AE" sz="900" b="0" i="0" dirty="0">
                    <a:solidFill>
                      <a:srgbClr val="333333"/>
                    </a:solidFill>
                    <a:latin typeface="Calibri"/>
                  </a:rPr>
                  <a:t>  </a:t>
                </a:r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for each leg type  (all-or-nothing integrity)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532120"/>
                <a:ext cx="11338560" cy="240772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411480" y="5769864"/>
                <a:ext cx="11338560" cy="240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ar-AE" sz="900" b="0" i="0" dirty="0">
                    <a:solidFill>
                      <a:srgbClr val="333333"/>
                    </a:solidFill>
                    <a:latin typeface="Calibri"/>
                  </a:rPr>
                  <a:t>•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</m:sub>
                    </m:sSub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𝑠𝑤𝑎𝑝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𝑎𝑐𝑡𝑖𝑣</m:t>
                    </m:r>
                    <m:sSub>
                      <m:sSubPr>
                        <m:ctrlP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(DHB visited before LGB when swap fires)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769864"/>
                <a:ext cx="11338560" cy="240772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411480" y="6007608"/>
                <a:ext cx="11338560" cy="242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l-GR" sz="900" b="0" i="0" dirty="0">
                    <a:solidFill>
                      <a:srgbClr val="333333"/>
                    </a:solidFill>
                    <a:latin typeface="Calibri"/>
                  </a:rPr>
                  <a:t>•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9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𝑠𝑤𝑎𝑝</m:t>
                    </m:r>
                    <m:r>
                      <a:rPr lang="el-GR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𝑎𝑐𝑡𝑖𝑣</m:t>
                    </m:r>
                    <m:sSub>
                      <m:sSubPr>
                        <m:ctrlP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(at most one swap in the entire route)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007608"/>
                <a:ext cx="11338560" cy="242054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411480" y="6245352"/>
                <a:ext cx="11338560" cy="242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ar-AE" sz="900" b="0" i="0" dirty="0">
                    <a:solidFill>
                      <a:srgbClr val="333333"/>
                    </a:solidFill>
                    <a:latin typeface="Calibri"/>
                  </a:rPr>
                  <a:t>•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9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b>
                    </m:sSub>
                    <m:r>
                      <a:rPr lang="ar-AE" sz="9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𝑠𝑤𝑎𝑝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ar-AE" sz="900" b="0" i="1" dirty="0" err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𝑎𝑐𝑡𝑖𝑣</m:t>
                    </m:r>
                    <m:sSub>
                      <m:sSubPr>
                        <m:ctrlP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900" b="0" i="1" dirty="0" err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900" b="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sz="900" b="0" i="0" dirty="0">
                    <a:solidFill>
                      <a:srgbClr val="333333"/>
                    </a:solidFill>
                    <a:latin typeface="Calibri"/>
                  </a:rPr>
                  <a:t>(both ports classified PORT_SWAP)</a:t>
                </a:r>
                <a:endParaRPr sz="9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245352"/>
                <a:ext cx="11338560" cy="242054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Emissions &amp; Regulatory Compliance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Single-fuel VLSFO assumption — CO₂, EU ETS, IMO CII, FuelEU Maritime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Cubic Fuel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6DA4"/>
                </a:solidFill>
                <a:latin typeface="Calibri"/>
              </a:rPr>
              <a:t>F = F₀ · (v/v₀)³ · d/(v·24)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F₀ = 100 t/day at v₀ = 20 kn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04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Fuel cost ∝ v² · d  (quadratic in speed)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78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15 kn uses 2.78× less fuel than 25 kn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529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CO₂ = F × 3.114  (VLSFO emission factor)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43000"/>
            <a:ext cx="594360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20700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EU ETS  (Regulation EU 2023/957)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554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6E"/>
                </a:solidFill>
                <a:latin typeface="Calibri"/>
              </a:rPr>
              <a:t>C_ETS = CO₂ × φ_year × P_carbon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0299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2024: φ = 40%  |  2025: φ = 70%  |  2026+: φ =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377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Baseline carbon price: €65/tCO₂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7249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Stochastic: TN(65, 15², [30, 130]) in CFA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530352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493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IMO CII  (Carbon Intensity Indicator)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  <a:latin typeface="Calibri"/>
              </a:rPr>
              <a:t>Attained = CO₂[g] / (DWT · distance)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  <a:latin typeface="Calibri"/>
              </a:rPr>
              <a:t>Required = 1984 · DWT⁻⁰·⁴⁸⁹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A (≤0.85×req)  B (≤0.95×)  C (≤1.05×)  D (≤1.15×)  E (&gt;1.15×)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  <a:latin typeface="Calibri"/>
              </a:rPr>
              <a:t>Result: Rating A in all scenarios (attained/required ≈ 0.51)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429000"/>
            <a:ext cx="594360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349300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FuelEU Maritime  (corrected formula)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840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Penalty = (g−g*)/g · F_total · LHV / LHV · 2400 · FX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2519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g = 91.16 gCO₂eq/MJ  (VLSFO, always non-compliant from 2025)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5262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g* ≈ 88.61 gCO₂eq/MJ  (2026 limit, interpolated)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8006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LHV = 40,500 MJ/tonne  (energy-based formula, corrected)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07491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Penalty ≈ €72.5/tonne fuel  |  VLSFO always non-compliant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Alpha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How the cost–service trade-off shifts across α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alph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23444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307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Sharp transition at α=0.6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18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Operational cost jumps from ~$820k to ~$1,100k as model switches from swap+omission to fast full-visit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CO₂ increases with service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101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Emissions rise ~50% above α=0.6 — faster speeds to avoid delays burn significantly more fuel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61772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690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5 → 0 delayed 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01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Full range from maximum delay (α=0) to zero delay (α=0.7+) across the sweep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Cost–Service 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Each point is the optimal solution at a given α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alpha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188720"/>
            <a:ext cx="3657600" cy="1554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Low α (0.0–0.2)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572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Operational cost ~$750k
Service cost ~$515k
5 containers delayed, 3 ports skipped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657600" cy="1554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Mid α (0.3–0.5)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101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Operational cost ~$820k
Service cost ~$269k
3 delayed, swap activated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663440"/>
            <a:ext cx="3657600" cy="1554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736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High α (0.6–0.9)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47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Operational cost ~$1,100k
Service cost ~$0
0 delayed, fast full-visit routes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Initial Delay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Recovery cost scales non-linearly with disruption 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delay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23444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307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Threshold at 36h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18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Objective jumps from $425k to $489k — second container crosses its promised arrival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Plateau above 48h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101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Objective stabilises at $545k — same 3 containers always delayed. Promises calibrated to 48h expected delay.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61772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690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Emissions dip at 36h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01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CO₂ drops as model switches to a more fuel-efficient route (different port omission), then recovers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Green Recovery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Prioritising service increases emissions — a fundamental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green_recover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474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754880"/>
            <a:ext cx="11612880" cy="17830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48188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Key Insight: The Green Recovery 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138928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At α ≤ 0.5: slow steaming minimises fuel and CO₂ — but accepts container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468112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At α ≥ 0.6: fast speeds eliminate delays — but CO₂ increases by ~50% and ETS exposure rises proportionally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797296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FuelEU penalty = $0 throughout (flag=False) — under VLSFO, always non-compliant regardless of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126480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•  CII Rating A in all scenarios — slow steaming produces attained/required ratio of 0.51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CII Profile and ETS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IMO CII Rating A across all scenarios — ETS cost linear in carbon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cii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2743200"/>
          </a:xfrm>
          <a:prstGeom prst="rect">
            <a:avLst/>
          </a:prstGeom>
        </p:spPr>
      </p:pic>
      <p:pic>
        <p:nvPicPr>
          <p:cNvPr id="8" name="Picture 7" descr="strategy_mix_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023360"/>
            <a:ext cx="5669280" cy="24688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096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CII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07408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Attained CII ≈ 3.65 gCO₂/(DWT·nm) across all delay scenarios.
Required CII = 7.12.  Ratio = 0.51 → Rating A in every scenario.
Slow steaming (15 kn) dramatically reduces CO₂ per transport work unit. The CII reference line is calibrated to nominal-speed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023360"/>
            <a:ext cx="5760720" cy="24688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4096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A1E"/>
                </a:solidFill>
                <a:latin typeface="Calibri"/>
              </a:rPr>
              <a:t>ETS Strategy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407408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Strategy mix (2 omissions + 1 swap) is invariant to carbon price.
ETS carbon price does not enter the MIP objective — only FuelEU does.
ETS cost is perfectly linear in carbon price:
slope = 4,248 t CO₂ × 1.0 phase-in = 4,248 EUR per EUR/tCO₂.
At €130/tCO₂ → ETS exposure reaches €552k per voyage.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Solver Benchmark: Xpress vs HiGHS vs CBC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All three solvers find identical optimal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benchmark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97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4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Avg 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51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108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Avg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MIP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59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16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Feasible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51320" y="4480560"/>
            <a:ext cx="1295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7040" y="450799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Optimal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Xpress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697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154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$501,429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51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108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0.015s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59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016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51320" y="480060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97040" y="482803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HiGHS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697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154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$501,429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651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108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0.050s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62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59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016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1320" y="5120640"/>
            <a:ext cx="1295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97040" y="514807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CBC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697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6154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$501,429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651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108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0.258s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062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0.0%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59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016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1320" y="5440680"/>
            <a:ext cx="1295400" cy="320040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97040" y="5468112"/>
            <a:ext cx="1203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1234440"/>
            <a:ext cx="3657600" cy="12344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21040" y="13075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Solution quality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1600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All three solvers find the same optimal objective — PuLP MIP builder produces identical formulation to Xpress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2651760"/>
            <a:ext cx="3657600" cy="12344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21040" y="2724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Speed advantage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0175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Xpress is 3.3× faster than HiGHS and 17× faster than CBC on these instances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069080"/>
            <a:ext cx="3657600" cy="12344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4142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Solver independence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4348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HiGHS and CBC operate with no Xpress dependency — PuLP exports to MPS format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Cost Function Approximation — The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Powell (2022) framework: parametric optimisation + simulator + parameter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47472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Sample estimated delay
μ_est = 48h, σ = 12h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3474720" cy="1554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Apply theta tightening
to container promises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474720" cy="15544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Solve MIP
→ fixed 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347472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Sample realised scenario
delay, weather, handling,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063240"/>
            <a:ext cx="3474720" cy="155448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Simulate realised outcome
which containers missed?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063240"/>
            <a:ext cx="3474720" cy="155448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Update theta at ports
with misses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888888"/>
                </a:solidFill>
                <a:latin typeface="Calibri"/>
              </a:rPr>
              <a:t>↑ repeat for </a:t>
            </a:r>
            <a:r>
              <a:rPr sz="1000" b="0" i="1" dirty="0" err="1">
                <a:solidFill>
                  <a:srgbClr val="888888"/>
                </a:solidFill>
                <a:latin typeface="Calibri"/>
              </a:rPr>
              <a:t>n_episodes</a:t>
            </a:r>
            <a:r>
              <a:rPr sz="1000" b="0" i="1" dirty="0">
                <a:solidFill>
                  <a:srgbClr val="888888"/>
                </a:solidFill>
                <a:latin typeface="Calibri"/>
              </a:rPr>
              <a:t> 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49240"/>
            <a:ext cx="11612880" cy="11887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5413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Key asymmetry — why CFA works: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7150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MIP sees tightened promises (theta applied)  →  solver builds in buffer  →  simulator evaluates against ORIGINAL promises  →  more containers arrive on time  →  theta updated to reinforce what worked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Theta Evolution During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How each update rule learns to tighten container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theta_evolution_add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2286000"/>
          </a:xfrm>
          <a:prstGeom prst="rect">
            <a:avLst/>
          </a:prstGeom>
        </p:spPr>
      </p:pic>
      <p:pic>
        <p:nvPicPr>
          <p:cNvPr id="8" name="Picture 7" descr="theta_evolution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2286000"/>
          </a:xfrm>
          <a:prstGeom prst="rect">
            <a:avLst/>
          </a:prstGeom>
        </p:spPr>
      </p:pic>
      <p:pic>
        <p:nvPicPr>
          <p:cNvPr id="9" name="Picture 8" descr="theta_evolution_sp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66160"/>
            <a:ext cx="566928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0" y="3566160"/>
            <a:ext cx="5760720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3639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776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Additive: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977639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QIN, LGB, YOK2 increase linearly. DHB slower (fewer misses). Never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4456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Decay: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544567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Same ports increase but DHB shows two-sided behaviour — rises with misses, falls without.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1149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SPSA: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111495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Jumps to cap (30h) at 6 ports in episode 1. Gradient-guided — finds optimal in one step.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CFA Policy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Realised metrics only — MIP objectives not directly comparable across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cfa_summar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023360"/>
            <a:ext cx="155448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40507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023360"/>
            <a:ext cx="155448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20" y="40507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Avg missed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023360"/>
            <a:ext cx="155448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40507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Avg svc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023360"/>
            <a:ext cx="155448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40507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vs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023360"/>
            <a:ext cx="155448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40507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p95 tail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15968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343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315968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20" y="4343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4.00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315968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4343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$298,912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315968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4343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315968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343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$346,477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0857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Additive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60857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20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3.60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60857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$272,439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60857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−8.9%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60857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$339,030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901184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4928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Decay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901184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74520" y="4928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3.70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4901184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29000" y="4928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$277,196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4901184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4928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−7.3%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901184"/>
            <a:ext cx="1554480" cy="292608"/>
          </a:xfrm>
          <a:prstGeom prst="rect">
            <a:avLst/>
          </a:prstGeom>
          <a:solidFill>
            <a:srgbClr val="D6E8F7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928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$339,030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193792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5221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SPSA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5193792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74520" y="5221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3.00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5193792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29000" y="5221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$243,900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37760" y="5193792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83480" y="5221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−18.4%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193792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37960" y="5221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$243,900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1188720"/>
            <a:ext cx="3657600" cy="43891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21040" y="1261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SPSA Key Result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1627632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−18.4% average service cost
Zero variance:
p90 = p95 = mean = $243,900
std = $0
Converges in 1 episode:
Gradient-guided update identifies
maximum tightening at 6 ports
as optimal immediately.
3 MIP solves per update
(1 main + 2 perturbations)
vs 1 for additive/decay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Tail Risk: SPSA Eliminates Worst-Case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D6E8F7"/>
                </a:solidFill>
                <a:latin typeface="Calibri"/>
              </a:rPr>
              <a:t>Distribution of </a:t>
            </a:r>
            <a:r>
              <a:rPr sz="1300" b="0" i="1" dirty="0" err="1">
                <a:solidFill>
                  <a:srgbClr val="D6E8F7"/>
                </a:solidFill>
                <a:latin typeface="Calibri"/>
              </a:rPr>
              <a:t>realised</a:t>
            </a:r>
            <a:r>
              <a:rPr sz="1300" b="0" i="1" dirty="0">
                <a:solidFill>
                  <a:srgbClr val="D6E8F7"/>
                </a:solidFill>
                <a:latin typeface="Calibri"/>
              </a:rPr>
              <a:t> service cost across 20 test episodes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cfa_tail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23444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307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Wide distribution
p95=$346k, outlier at $485k
Significant tail exposure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3657600" cy="15087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Additive &amp;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375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Similar to each other
p95=$339k
Modest improvement, tail unchanged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617720"/>
            <a:ext cx="3657600" cy="150876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690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SPSA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29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Degenerate distribution
All 20 episodes = $243,900
Zero variance, zero tail risk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Regulatory Exposure by CFA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FuelEU compliance and ETS cost across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ets_complianc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937760"/>
            <a:ext cx="5577840" cy="1600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010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FuelEU: 0% compliance — 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32180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Under single-fuel VLSFO, GHG intensity (91.16 gCO₂eq/MJ) always exceeds the 2026 FuelEU limit (88.61 gCO₂eq/MJ). Compliance requires switching to alternative fuels — outside current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937760"/>
            <a:ext cx="5760720" cy="1600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5010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A1E"/>
                </a:solidFill>
                <a:latin typeface="Calibri"/>
              </a:rPr>
              <a:t>ETS: similar across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321808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Average realised ETS cost: €274k–€278k across all policies. SPSA slightly higher (€277,703) because aggressive tightening forces faster routes that burn more fuel. Trade-off: −18.4% service cost vs +1.1% ETS exposure.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Penalty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Calibri"/>
              </a:rPr>
              <a:t>Swap and speed-up penalties swept across four random seeds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pic>
        <p:nvPicPr>
          <p:cNvPr id="7" name="Picture 6" descr="swap_penal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669280" cy="5303520"/>
          </a:xfrm>
          <a:prstGeom prst="rect">
            <a:avLst/>
          </a:prstGeom>
        </p:spPr>
      </p:pic>
      <p:pic>
        <p:nvPicPr>
          <p:cNvPr id="8" name="Picture 7" descr="speedup_penalt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6400800"/>
            <a:ext cx="5669280" cy="3200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4190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  <a:latin typeface="Calibri"/>
              </a:rPr>
              <a:t>Swap: objective increases linearly with penalty — route unchanged $0–$5,000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6400800"/>
            <a:ext cx="5760720" cy="3200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64190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  <a:latin typeface="Calibri"/>
              </a:rPr>
              <a:t>Speed-up: completely flat — fast speed never optimal for this container set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02920" cy="914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990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143000"/>
            <a:ext cx="11018520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Pareto frontier is non-linear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904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Two distinct regimes: swap-based recovery (α ≤ 0.5, ~$820k operational) and fast-speed full-visit recovery (α ≥ 0.6, ~$1,100k). The transition is sharp.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21991"/>
            <a:ext cx="502920" cy="91440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47802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221991"/>
            <a:ext cx="11018520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276855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6E"/>
                </a:solidFill>
                <a:latin typeface="Calibri"/>
              </a:rPr>
              <a:t>Green recovery tension is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69463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Prioritising service (α ≥ 0.6) increases CO₂ by ~50% and ETS exposure proportionally. Slow steaming achieves CII Rating A — but only when service quality is sacrificed.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00984"/>
            <a:ext cx="502920" cy="9144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55701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00984"/>
            <a:ext cx="11018520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558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  <a:latin typeface="Calibri"/>
              </a:rPr>
              <a:t>All solvers find identical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48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Xpress, HiGHS, and CBC all find the same optimal objective. Xpress is 3.3× faster than HiGHS and 17× faster than CBC.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79976"/>
            <a:ext cx="5029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636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379976"/>
            <a:ext cx="11018520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SPSA dominates all CFA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27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−18.4% average service cost. Zero variance (p95 = mean = $243,900, std = $0). Converges in one episode via simultaneous gradient estimation.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58968"/>
            <a:ext cx="502920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715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458968"/>
            <a:ext cx="11018520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138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  <a:latin typeface="Calibri"/>
              </a:rPr>
              <a:t>Swap activation is demand-dependent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06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Swap activated in 2 of 4 seeds, robust to penalties up to $5,000. For other seeds, no swap is ever beneficial — confirms Brouer et al. (2013).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Single-fuel VLSFO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FuelEU always non-compliant; no fuel-switching decisions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Per-voyage FuelEU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87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Regulation is annual; per-voyage approximation is standard in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Delay constraint approximation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Uses nominal speed on prior legs; big-M formulation would be exact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Delay sweep plateau above 48h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Structural property of 5-container test set; more containers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time_to_first_feasible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82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Unavailable on Xpress community license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Swap rarely activates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138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Demand-dependent; larger instances with more containers needed to show broader activation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43000"/>
            <a:ext cx="5852160" cy="53035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21615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6E"/>
                </a:solidFill>
                <a:latin typeface="Calibri"/>
              </a:rPr>
              <a:t>Natural Extensions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00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Multi-fuel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56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LNG/methanol switching variables; fuel-choice per leg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331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333333"/>
                </a:solidFill>
                <a:latin typeface="Calibri"/>
              </a:rPr>
              <a:t>• Annual CII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87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Multi-voyage constraint linking CII across the fleet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63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Larger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19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25+ containers to show richer delay sweep variation and strategy diversity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SPSA with diminishing step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50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Theoretical convergence guarantees via a_k = a/(k+A)^α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262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• Port hoteling emissions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782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  Add at-berth emissions to the CO₂ accounting module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8F7"/>
                </a:solidFill>
                <a:latin typeface="Calibri"/>
              </a:rPr>
              <a:t>TJL Optimization  |  VSRP Extensions &amp; Benchmarking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Brouer, B.D. et al. (2013). The Vessel Schedule Recovery Problem (VSRP).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European Journal of Operational Research, 224(2), 362–374.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739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Li, S. et al. (2023). Vessel schedule recovery strategy in liner shipping.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Ocean and Coastal Management, 237, 106514.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59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Hu, Liu, Jin, Wang (2024). Liner disruption recovery with emission control area policies.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Transportation Research Part D, 132, 104227.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443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443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Zhou et al. (2024). Schedule recovery under ECA regulation.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Journal of Marine Science and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52958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95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Li, S. &amp; Wang, T. (2025). ETS effects on liner disruption recovery.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856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Transport Policy, 169, 191–208.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Powell, W.B. (2022). Reinforcement Learning and Stochastic Optimization.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Wiley. [CFA framework]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70001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000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IMO MEPC.338(76) — CII reference lines for container ships.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28523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852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Regulation (EU) 2023/957 — EU ETS maritime phase-in schedule.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8704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  <a:latin typeface="Calibri"/>
              </a:rPr>
              <a:t>9.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alibri"/>
              </a:rPr>
              <a:t>FuelEU Maritime Regulation — GHG intensity limits and Article 23 penalty.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6E8F7"/>
                </a:solidFill>
                <a:latin typeface="Calibri"/>
              </a:rPr>
              <a:t>Vessel Schedule Recovery Problem
Extensions, Benchmarking &amp; Regulatory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Calibri"/>
              </a:rPr>
              <a:t>Code:     python -m scripts.smoke_test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Calibri"/>
              </a:rPr>
              <a:t>Figures:  results/figures/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72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Calibri"/>
              </a:rPr>
              <a:t>Tables:   results/tables/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3141</Words>
  <Application>Microsoft Office PowerPoint</Application>
  <PresentationFormat>Custom</PresentationFormat>
  <Paragraphs>449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Lucian Nita</cp:lastModifiedBy>
  <cp:revision>2</cp:revision>
  <dcterms:created xsi:type="dcterms:W3CDTF">2013-01-27T09:14:16Z</dcterms:created>
  <dcterms:modified xsi:type="dcterms:W3CDTF">2026-04-29T12:51:18Z</dcterms:modified>
  <cp:category/>
</cp:coreProperties>
</file>